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Solicitudes</c:v>
                </c:pt>
              </c:strCache>
            </c:strRef>
          </c:tx>
          <c:dPt>
            <c:idx val="0"/>
            <c:spPr>
              <a:solidFill>
                <a:srgbClr val="CF142B"/>
              </a:solidFill>
            </c:spPr>
          </c:dPt>
          <c:dPt>
            <c:idx val="1"/>
            <c:spPr>
              <a:solidFill>
                <a:srgbClr val="0033A0"/>
              </a:solidFill>
            </c:spPr>
          </c:dPt>
          <c:dPt>
            <c:idx val="2"/>
            <c:spPr>
              <a:solidFill>
                <a:srgbClr val="1D72C2"/>
              </a:solidFill>
            </c:spPr>
          </c:dPt>
          <c:dPt>
            <c:idx val="3"/>
            <c:spPr>
              <a:solidFill>
                <a:srgbClr val="E0A800"/>
              </a:solidFill>
            </c:spPr>
          </c:dPt>
          <c:dPt>
            <c:idx val="4"/>
            <c:spPr>
              <a:solidFill>
                <a:srgbClr val="98A2B3"/>
              </a:solidFill>
            </c:spPr>
          </c:dPt>
          <c:cat>
            <c:strRef>
              <c:f>Sheet1!$A$2:$A$6</c:f>
              <c:strCache>
                <c:ptCount val="5"/>
                <c:pt idx="0">
                  <c:v>Bots (escaneo wp-admin)</c:v>
                </c:pt>
                <c:pt idx="1">
                  <c:v>Cargas de página (/)</c:v>
                </c:pt>
                <c:pt idx="2">
                  <c:v>Imágenes y logos</c:v>
                </c:pt>
                <c:pt idx="3">
                  <c:v>Favicon (error 404)</c:v>
                </c:pt>
                <c:pt idx="4">
                  <c:v>Otros recursos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576</c:v>
                </c:pt>
                <c:pt idx="1">
                  <c:v>550</c:v>
                </c:pt>
                <c:pt idx="2">
                  <c:v>355</c:v>
                </c:pt>
                <c:pt idx="3">
                  <c:v>174</c:v>
                </c:pt>
                <c:pt idx="4">
                  <c:v>446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475467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Solicitudes</c:v>
                </c:pt>
              </c:strCache>
            </c:strRef>
          </c:tx>
          <c:spPr>
            <a:solidFill>
              <a:srgbClr val="0033A0"/>
            </a:solidFill>
          </c:spPr>
          <c:cat>
            <c:strRef>
              <c:f>Sheet1!$A$2:$A$11</c:f>
              <c:strCache>
                <c:ptCount val="10"/>
                <c:pt idx="0">
                  <c:v>Canadá</c:v>
                </c:pt>
                <c:pt idx="1">
                  <c:v>P. Bajos</c:v>
                </c:pt>
                <c:pt idx="2">
                  <c:v>R. Unido</c:v>
                </c:pt>
                <c:pt idx="3">
                  <c:v>Alemania</c:v>
                </c:pt>
                <c:pt idx="4">
                  <c:v>Colombia</c:v>
                </c:pt>
                <c:pt idx="5">
                  <c:v>Brasil</c:v>
                </c:pt>
                <c:pt idx="6">
                  <c:v>España</c:v>
                </c:pt>
                <c:pt idx="7">
                  <c:v>Polonia</c:v>
                </c:pt>
                <c:pt idx="8">
                  <c:v>Francia</c:v>
                </c:pt>
                <c:pt idx="9">
                  <c:v>EE. UU.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</c:v>
                </c:pt>
                <c:pt idx="1">
                  <c:v>44</c:v>
                </c:pt>
                <c:pt idx="2">
                  <c:v>47</c:v>
                </c:pt>
                <c:pt idx="3">
                  <c:v>49</c:v>
                </c:pt>
                <c:pt idx="4">
                  <c:v>51</c:v>
                </c:pt>
                <c:pt idx="5">
                  <c:v>55</c:v>
                </c:pt>
                <c:pt idx="6">
                  <c:v>67</c:v>
                </c:pt>
                <c:pt idx="7">
                  <c:v>111</c:v>
                </c:pt>
                <c:pt idx="8">
                  <c:v>121</c:v>
                </c:pt>
                <c:pt idx="9">
                  <c:v>1255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620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7546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Solicitudes 24 h</c:v>
                </c:pt>
              </c:strCache>
            </c:strRef>
          </c:tx>
          <c:spPr>
            <a:solidFill>
              <a:srgbClr val="1D72C2"/>
            </a:solidFill>
          </c:spPr>
          <c:dPt>
            <c:idx val="7"/>
            <c:spPr>
              <a:solidFill>
                <a:srgbClr val="E0A800"/>
              </a:solidFill>
            </c:spPr>
          </c:dPt>
          <c:dPt>
            <c:idx val="9"/>
            <c:spPr>
              <a:solidFill>
                <a:srgbClr val="98A2B3"/>
              </a:solidFill>
            </c:spPr>
          </c:dPt>
          <c:cat>
            <c:strRef>
              <c:f>Sheet1!$A$2:$A$11</c:f>
              <c:strCache>
                <c:ptCount val="10"/>
                <c:pt idx="0">
                  <c:v>México</c:v>
                </c:pt>
                <c:pt idx="1">
                  <c:v>Francia</c:v>
                </c:pt>
                <c:pt idx="2">
                  <c:v>Alemania</c:v>
                </c:pt>
                <c:pt idx="3">
                  <c:v>Colombia</c:v>
                </c:pt>
                <c:pt idx="4">
                  <c:v>Polonia</c:v>
                </c:pt>
                <c:pt idx="5">
                  <c:v>P. Bajos</c:v>
                </c:pt>
                <c:pt idx="6">
                  <c:v>Brasil</c:v>
                </c:pt>
                <c:pt idx="7">
                  <c:v>Venezuela</c:v>
                </c:pt>
                <c:pt idx="8">
                  <c:v>España</c:v>
                </c:pt>
                <c:pt idx="9">
                  <c:v>EE. UU.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12</c:v>
                </c:pt>
                <c:pt idx="8">
                  <c:v>15</c:v>
                </c:pt>
                <c:pt idx="9">
                  <c:v>212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620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7546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7432" y="0"/>
            <a:ext cx="731520" cy="2286000"/>
          </a:xfrm>
          <a:prstGeom prst="rect">
            <a:avLst/>
          </a:prstGeom>
          <a:solidFill>
            <a:srgbClr val="FCD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2286000"/>
            <a:ext cx="731520" cy="228600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7432" y="4572000"/>
            <a:ext cx="731520" cy="2286000"/>
          </a:xfrm>
          <a:prstGeom prst="rect">
            <a:avLst/>
          </a:prstGeom>
          <a:solidFill>
            <a:srgbClr val="CF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CDD09"/>
                </a:solidFill>
                <a:latin typeface="Calibri"/>
              </a:rPr>
              <a:t>FUNDACIÓN EUGENIO MENDOZA · PLATAFORMA SOS VENEZUELA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Analítica web del sitio
apoyo-fem-vzla.org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Reporte de tráfico · últimos 7 días (29 jun – 5 jul 2026)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FA3C8"/>
                </a:solidFill>
                <a:latin typeface="Calibri"/>
              </a:rPr>
              <a:t>Fuente: Hostinger hPanel Analytics · Elaborado: 5 de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33A0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6202E"/>
                </a:solidFill>
                <a:latin typeface="Calibri"/>
              </a:rPr>
              <a:t>Una semana en línea: alcance inicial logrado, difusión aún pendiente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33A0"/>
                </a:solidFill>
                <a:latin typeface="Calibri"/>
              </a:rPr>
              <a:t>2.101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99232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2E"/>
                </a:solidFill>
                <a:latin typeface="Calibri"/>
              </a:rPr>
              <a:t>solicitudes al servidor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en 7 días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82880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72C2"/>
                </a:solidFill>
                <a:latin typeface="Calibri"/>
              </a:rPr>
              <a:t>≈550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2999232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2E"/>
                </a:solidFill>
                <a:latin typeface="Calibri"/>
              </a:rPr>
              <a:t>cargas de página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visitas a la portada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82880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6202E"/>
                </a:solidFill>
                <a:latin typeface="Calibri"/>
              </a:rPr>
              <a:t>68,3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99232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2E"/>
                </a:solidFill>
                <a:latin typeface="Calibri"/>
              </a:rPr>
              <a:t>datos transferidos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ancho de banda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182880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FD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103120"/>
            <a:ext cx="22677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CF142B"/>
                </a:solidFill>
                <a:latin typeface="Calibri"/>
              </a:rPr>
              <a:t>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6" y="2999232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2E"/>
                </a:solidFill>
                <a:latin typeface="Calibri"/>
              </a:rPr>
              <a:t>del tráfico son bots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escáneres automatizados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881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6202E"/>
                </a:solidFill>
                <a:latin typeface="Calibri"/>
              </a:rPr>
              <a:t>Lectura ejecutiva. </a:t>
            </a:r>
            <a:r>
              <a:rPr sz="1500" b="0">
                <a:solidFill>
                  <a:srgbClr val="475467"/>
                </a:solidFill>
                <a:latin typeface="Calibri"/>
              </a:rPr>
              <a:t>El sitio registró tráfico desde el primer día, con un pico en el lanzamiento (30 de junio) y un repunte el 2 de julio. Una parte relevante de las solicitudes proviene de bots automatizados —normal en cualquier sitio público y sin riesgo para esta página estática—, por lo que las cifras del servidor deben leerse como techo, no como personas. El tráfico humano identificable es aún modesto y decae tras el pico inicial: el reto de la semana entrante no es técnico, es de difusión.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33A0"/>
                </a:solidFill>
                <a:latin typeface="Calibri"/>
              </a:rPr>
              <a:t>QUÉ HAY DETRÁS DE LAS 2.101 SOLICITUDES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6202E"/>
                </a:solidFill>
                <a:latin typeface="Calibri"/>
              </a:rPr>
              <a:t>La mitad del tráfico no son personas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51206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783080"/>
            <a:ext cx="5486400" cy="104241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911096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F142B"/>
                </a:solidFill>
                <a:latin typeface="Calibri"/>
              </a:rPr>
              <a:t>576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01952"/>
            <a:ext cx="402336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peticiones de un solo bot buscando WordPress (/wp-admin/install.php). El sitio no usa WordPress: sin riesgo, es ruido de fondo de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71800"/>
            <a:ext cx="5486400" cy="104241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099816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33A0"/>
                </a:solidFill>
                <a:latin typeface="Calibri"/>
              </a:rPr>
              <a:t>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090672"/>
            <a:ext cx="402336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cargas reales de la portada (GET /): la mejor aproximación a visitas de personas y crawlers legítimos.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160520"/>
            <a:ext cx="5486400" cy="104241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88536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D72C2"/>
                </a:solidFill>
                <a:latin typeface="Calibri"/>
              </a:rPr>
              <a:t>355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279392"/>
            <a:ext cx="402336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descargas de imágenes institucionales (logo FEM, portada Catia La Mar): señal de páginas vistas completas.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349240"/>
            <a:ext cx="5486400" cy="104241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477256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0A800"/>
                </a:solidFill>
                <a:latin typeface="Calibri"/>
              </a:rPr>
              <a:t>174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468112"/>
            <a:ext cx="402336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75467"/>
                </a:solidFill>
                <a:latin typeface="Calibri"/>
              </a:rPr>
              <a:t>peticiones fallidas de favicon — el sitio no tiene ícono de pestaña. Corrección cosmética pendiente.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33A0"/>
                </a:solidFill>
                <a:latin typeface="Calibri"/>
              </a:rPr>
              <a:t>ORIGEN DE LAS SOLICITUDES · ÚLTIMOS 7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6202E"/>
                </a:solidFill>
                <a:latin typeface="Calibri"/>
              </a:rPr>
              <a:t>¿De dónde llega el tráfico?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78308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920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033A0"/>
                </a:solidFill>
                <a:latin typeface="Calibri"/>
              </a:rPr>
              <a:t>EE. UU. está inflado por 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860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Incluye el escáner de WordPress (576) y crawlers de buscadores. No representa lectores reales en esa proporción.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38328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35204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033A0"/>
                </a:solidFill>
                <a:latin typeface="Calibri"/>
              </a:rPr>
              <a:t>Venezuela sí aparece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Quedó justo fuera del top 10 semanal, pero en las últimas 24 h fue el 3.er país (12 solicitudes): el público objetivo empieza a llegar.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98348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51206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033A0"/>
                </a:solidFill>
                <a:latin typeface="Calibri"/>
              </a:rPr>
              <a:t>España incluye pruebas propias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5486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75467"/>
                </a:solidFill>
                <a:latin typeface="Calibri"/>
              </a:rPr>
              <a:t>Parte de esas solicitudes son verificaciones técnicas del propio equipo tras cada publicación.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33A0"/>
                </a:solidFill>
                <a:latin typeface="Calibri"/>
              </a:rPr>
              <a:t>FOTO ACTUAL · ÚLTIMAS 24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6202E"/>
                </a:solidFill>
                <a:latin typeface="Calibri"/>
              </a:rPr>
              <a:t>El público objetivo empieza a asomarse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783080"/>
            <a:ext cx="4114800" cy="2148840"/>
          </a:xfrm>
          <a:prstGeom prst="roundRect">
            <a:avLst>
              <a:gd name="adj" fmla="val 6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965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202E"/>
                </a:solidFill>
                <a:latin typeface="Calibri"/>
              </a:rPr>
              <a:t>284 solicitudes en 24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3774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B5A16"/>
                </a:solidFill>
                <a:latin typeface="Calibri"/>
              </a:rPr>
              <a:t>Venezuela ya es el 3.er origen del día — llegando de forma orgánica, sin campaña de difusión. Colombia y México, con diáspora y familiares, también aparecen.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114800"/>
            <a:ext cx="4114800" cy="214884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297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Desde hoy: medición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7091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475467"/>
                </a:solidFill>
                <a:latin typeface="Calibri"/>
              </a:rPr>
              <a:t>Se instaló GoatCounter (femsos.goatcounter.com): contará personas —no bots—, con países, páginas y fuentes de llegada, sin cookies ni impacto en velocidad.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DD09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El sitio funciona; ahora toca hacerlo llegar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16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29384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CDD0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2024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Difusión dirigida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11096"/>
            <a:ext cx="63093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El tráfico decae tras el pico del lanzamiento. Pedir a organismos aliados, CEMEFI y canales FEM que enlacen la página; es la palanca de mayor impacto.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53512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16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99816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CDD09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090672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Medir personas, no solicitudes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81528"/>
            <a:ext cx="63093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Usar el panel femsos.goatcounter.com como métrica oficial de visitas desde esta semana; la analítica del servidor queda como respaldo técnico.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23944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16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270248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CDD0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61104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Activar el buzón de contacto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51960"/>
            <a:ext cx="63093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Crear la cuenta de correo contacto@apoyo-fem-vzla.org en Hostinger para que el nuevo formulario de la página reciba solicitudes.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94376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16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440680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CDD09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431536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Corregir el favicon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422392"/>
            <a:ext cx="63093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174 solicitudes fallidas en la semana. Detalle cosmético que además ensucia los registros de errores.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FA3C8"/>
                </a:solidFill>
                <a:latin typeface="Calibri"/>
              </a:rPr>
              <a:t>Fuente: Hostinger hPanel Analytics (registros del servidor, 29 jun – 5 jul 2026) · Las cifras de servidor incluyen bots; se indican segmentadas.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